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931a8d9ab0c4922" /><Relationship Type="http://schemas.openxmlformats.org/officeDocument/2006/relationships/extended-properties" Target="/docProps/app.xml" Id="Rbc4c4abd5bff4478" /><Relationship Type="http://schemas.openxmlformats.org/officeDocument/2006/relationships/officeDocument" Target="/ppt/presentation.xml" Id="R9fa4957f0f384ca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4505b4665904da8"/>
  </p:sldMasterIdLst>
  <p:notesMasterIdLst>
    <p:notesMasterId xmlns:r="http://schemas.openxmlformats.org/officeDocument/2006/relationships" r:id="Rd1b39e5c4aaa46db"/>
  </p:notesMasterIdLst>
  <p:sldIdLst>
    <p:sldId xmlns:r="http://schemas.openxmlformats.org/officeDocument/2006/relationships" id="256" r:id="Rf916a5a307794c37"/>
    <p:sldId xmlns:r="http://schemas.openxmlformats.org/officeDocument/2006/relationships" id="257" r:id="R18dc17c39e8549c9"/>
    <p:sldId xmlns:r="http://schemas.openxmlformats.org/officeDocument/2006/relationships" id="258" r:id="R40ebb77bab0144d0"/>
    <p:sldId xmlns:r="http://schemas.openxmlformats.org/officeDocument/2006/relationships" id="259" r:id="R2034309ef2b741f1"/>
    <p:sldId xmlns:r="http://schemas.openxmlformats.org/officeDocument/2006/relationships" id="260" r:id="Re85f88f38a3c42eb"/>
    <p:sldId xmlns:r="http://schemas.openxmlformats.org/officeDocument/2006/relationships" id="261" r:id="R96e9b7c96d0b41e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cd1127d2c8c4302" /><Relationship Type="http://schemas.openxmlformats.org/officeDocument/2006/relationships/slideMaster" Target="/ppt/slideMasters/slideMaster1.xml" Id="R54505b4665904da8" /><Relationship Type="http://schemas.openxmlformats.org/officeDocument/2006/relationships/notesMaster" Target="/ppt/notesMasters/notesMaster1.xml" Id="Rd1b39e5c4aaa46db" /><Relationship Type="http://schemas.openxmlformats.org/officeDocument/2006/relationships/presProps" Target="/ppt/presProps.xml" Id="R4a47d1cab9674bcf" /><Relationship Type="http://schemas.openxmlformats.org/officeDocument/2006/relationships/tableStyles" Target="/ppt/tableStyles.xml" Id="Re195cb541e9b4638" /><Relationship Type="http://schemas.openxmlformats.org/officeDocument/2006/relationships/slide" Target="/ppt/slides/slide1.xml" Id="Rf916a5a307794c37" /><Relationship Type="http://schemas.openxmlformats.org/officeDocument/2006/relationships/slide" Target="/ppt/slides/slide2.xml" Id="R18dc17c39e8549c9" /><Relationship Type="http://schemas.openxmlformats.org/officeDocument/2006/relationships/slide" Target="/ppt/slides/slide3.xml" Id="R40ebb77bab0144d0" /><Relationship Type="http://schemas.openxmlformats.org/officeDocument/2006/relationships/slide" Target="/ppt/slides/slide4.xml" Id="R2034309ef2b741f1" /><Relationship Type="http://schemas.openxmlformats.org/officeDocument/2006/relationships/slide" Target="/ppt/slides/slide5.xml" Id="Re85f88f38a3c42eb" /><Relationship Type="http://schemas.openxmlformats.org/officeDocument/2006/relationships/slide" Target="/ppt/slides/slide6.xml" Id="R96e9b7c96d0b41e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7b2b7a899a2457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c96759de76e481a" /><Relationship Type="http://schemas.openxmlformats.org/officeDocument/2006/relationships/notesMaster" Target="/ppt/notesMasters/notesMaster1.xml" Id="R6728d77cbfb14a5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f880f880b5e4f8b" /><Relationship Type="http://schemas.openxmlformats.org/officeDocument/2006/relationships/notesMaster" Target="/ppt/notesMasters/notesMaster1.xml" Id="R17f3d4d2a2aa401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107eea7dd4b40a9" /><Relationship Type="http://schemas.openxmlformats.org/officeDocument/2006/relationships/notesMaster" Target="/ppt/notesMasters/notesMaster1.xml" Id="R7cc15f8ac75b443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aaeb04c66b040d8" /><Relationship Type="http://schemas.openxmlformats.org/officeDocument/2006/relationships/notesMaster" Target="/ppt/notesMasters/notesMaster1.xml" Id="R0755ca0c50eb46f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c5c9dc64cfd4036" /><Relationship Type="http://schemas.openxmlformats.org/officeDocument/2006/relationships/notesMaster" Target="/ppt/notesMasters/notesMaster1.xml" Id="Rb9d5f46c4668405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3f3db9b79b840c6" /><Relationship Type="http://schemas.openxmlformats.org/officeDocument/2006/relationships/notesMaster" Target="/ppt/notesMasters/notesMaster1.xml" Id="R94c000cb357247e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0:00–0:25】情報システムデザインの最終課題として、Excel2TeXを開発しました。CSVやExcelの表を読み込み、表を整え、LaTeXのコードとして取り出せるデスクトップアプリです。今日は、なぜ必要なのか、どのような対話設計で解決したのか、そして品質をどう担保したのかを紹介しま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0:25–1:05】LaTeXの表は、データそのものより、記号の転記や列数の管理に手間がかかります。Excelで完成している表でも、アンパサンドや改行記号を入れ直し、結合セルや罫線も別に調整しなければなりません。元データを直すと、もう一度同じ作業が発生します。そこで課題を、変換だけではなく、表を二度つくる流れそのものとして捉えまし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1:05–2:00】これが実際の画面です。左でCSVまたはXLSXを選び、中央で読み込んだ表を確認しながら編集し、右に生成されたTeXを表示します。画面を切り替えずに入力と出力を見比べられるので、操作と結果の対応が分かります。コピーだけでなくtexファイルとして保存もできます。中央ではセル範囲を選び、結合や分割、行列の追加・削除、配置変更を行えます。操作結果は表とTeXの両方に反映されま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2:00–2:50】価値は、読込、整形と編集、出力を分断しないことです。読み込み時には空行や空列を整理できます。その後、転置、空欄や重複の削除に加えて、セル結合と分割、行列編集、UndoとRedoを使えます。出力は標準のtabularだけでなく、tabularx、longtable、booktabsにも対応します。各操作のたびにTeXを再生成するため、利用者は変更が正しいかをすぐ確認できま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2:50–3:55】設計では、授業で扱った対話設計における8つの黄金律から、フィードバックの提供を取り入れました。ファイルの読込中、TeXの生成完了、コピー、保存、エラーを画面下部に表示し、操作を受け付けたのか、何が起きたのかを返します。内部はUIと変換ロジックを分離し、変換処理を画面から独立して検証できる構成です。テストは270件で、変換、結合セル、編集、Undo・Redoなどを確認します。またFletを採用し、Windows、macOS、Linuxを対象にビルドできる構成にしまし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3:55–4:25】Excel2TeXは、単なる変換ツールではなく、表を二度つくる手間を減らし、内容と設計に集中するためのアプリです。今後は、生成結果をさらに確認しやすいTeXプレビュー、大規模な表での操作性、設定の保存を改善したいと考えています。入れ替えを含む5分の枠に対して、発表はここまで約4分25秒です。以上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6dbb678589498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92f58e34c1d49d5" /><Relationship Type="http://schemas.openxmlformats.org/officeDocument/2006/relationships/slideLayout" Target="/ppt/slideLayouts/slideLayout1.xml" Id="Rcc671639d594451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c671639d594451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a079e734124f73" /><Relationship Type="http://schemas.openxmlformats.org/officeDocument/2006/relationships/notesSlide" Target="/ppt/notesSlides/notesSlide1.xml" Id="Rf744ba3262cb439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31ee479de9441e" /><Relationship Type="http://schemas.openxmlformats.org/officeDocument/2006/relationships/notesSlide" Target="/ppt/notesSlides/notesSlide2.xml" Id="Re91e3ca808b24af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e244fbf86a4935" /><Relationship Type="http://schemas.openxmlformats.org/officeDocument/2006/relationships/image" Target="/ppt/media/image.jpeg" Id="Rc2177b6a14f444fa" /><Relationship Type="http://schemas.openxmlformats.org/officeDocument/2006/relationships/notesSlide" Target="/ppt/notesSlides/notesSlide3.xml" Id="R316a7809e4764b6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391a31b7704484" /><Relationship Type="http://schemas.openxmlformats.org/officeDocument/2006/relationships/notesSlide" Target="/ppt/notesSlides/notesSlide4.xml" Id="Rcba5c829dbd6432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11d93ec6e54080" /><Relationship Type="http://schemas.openxmlformats.org/officeDocument/2006/relationships/notesSlide" Target="/ppt/notesSlides/notesSlide5.xml" Id="Raabcd67242084f0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a9907e313f44b1" /><Relationship Type="http://schemas.openxmlformats.org/officeDocument/2006/relationships/notesSlide" Target="/ppt/notesSlides/notesSlide6.xml" Id="R2b6103ef8db440e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F3B12C86-EAB8-493B-ABCC-82E5A87AD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1143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urse-label">
            <a:extLst xmlns:a="http://schemas.openxmlformats.org/drawingml/2006/main">
              <a:ext uri="{FF2B5EF4-FFF2-40B4-BE49-F238E27FC236}">
                <a16:creationId xmlns:a16="http://schemas.microsoft.com/office/drawing/2014/main" id="{48820CCE-22FA-4F9A-916D-C4C8D2DF8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"/>
            <a:ext cx="6096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5D6673"/>
                </a:solidFill>
                <a:latin typeface="Yu Gothic"/>
                <a:ea typeface="Yu Gothic"/>
                <a:cs typeface="Yu Gothic"/>
              </a:defRPr>
            </a:pPr>
            <a:r>
              <a:t>情報システムデザイン  最終発表</a:t>
            </a:r>
          </a:p>
        </p:txBody>
      </p:sp>
      <p:sp>
        <p:nvSpPr>
          <p:cNvPr id="3" name="deck-title">
            <a:extLst xmlns:a="http://schemas.openxmlformats.org/drawingml/2006/main">
              <a:ext uri="{FF2B5EF4-FFF2-40B4-BE49-F238E27FC236}">
                <a16:creationId xmlns:a16="http://schemas.microsoft.com/office/drawing/2014/main" id="{4A7406A8-AF0B-41AB-B91C-A6E630FB7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00250"/>
            <a:ext cx="78105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615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t>Excel2TeX</a:t>
            </a:r>
          </a:p>
        </p:txBody>
      </p:sp>
      <p:sp>
        <p:nvSpPr>
          <p:cNvPr id="4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A2DC1A3B-3563-408A-AB53-2C34B176D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0"/>
            <a:ext cx="97155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11318"/>
                </a:solidFill>
                <a:latin typeface="Yu Gothic"/>
                <a:ea typeface="Yu Gothic"/>
                <a:cs typeface="Yu Gothic"/>
              </a:defRPr>
            </a:pPr>
            <a:r>
              <a:t>表を「整えて、そのままLaTeXへ」</a:t>
            </a:r>
          </a:p>
        </p:txBody>
      </p:sp>
      <p:sp>
        <p:nvSpPr>
          <p:cNvPr id="5" name="cover-panel">
            <a:extLst xmlns:a="http://schemas.openxmlformats.org/drawingml/2006/main">
              <a:ext uri="{FF2B5EF4-FFF2-40B4-BE49-F238E27FC236}">
                <a16:creationId xmlns:a16="http://schemas.microsoft.com/office/drawing/2014/main" id="{B26818AF-F03D-4CFF-89FB-296694128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81550"/>
            <a:ext cx="108394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deck-summary">
            <a:extLst xmlns:a="http://schemas.openxmlformats.org/drawingml/2006/main">
              <a:ext uri="{FF2B5EF4-FFF2-40B4-BE49-F238E27FC236}">
                <a16:creationId xmlns:a16="http://schemas.microsoft.com/office/drawing/2014/main" id="{01E8AA16-A16C-4097-A2EF-66233436B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48250"/>
            <a:ext cx="10287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111318"/>
                </a:solidFill>
                <a:latin typeface="Yu Gothic"/>
                <a:ea typeface="Yu Gothic"/>
                <a:cs typeface="Yu Gothic"/>
              </a:defRPr>
            </a:pPr>
            <a:r>
              <a:t>CSV / XLSX を読み込み、画面で編集し、用途に合うTeXコードを出力</a:t>
            </a:r>
          </a:p>
        </p:txBody>
      </p:sp>
    </p:spTree>
    <p:extLst>
      <p:ext uri="{BB962C8B-B14F-4D97-AF65-F5344CB8AC3E}">
        <p14:creationId xmlns:p14="http://schemas.microsoft.com/office/powerpoint/2010/main" val="3812632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9ECFD62-695B-4652-94BA-B53915A16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10490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318"/>
                </a:solidFill>
                <a:latin typeface="Yu Gothic"/>
                <a:ea typeface="Yu Gothic"/>
                <a:cs typeface="Yu Gothic"/>
              </a:defRPr>
            </a:pPr>
            <a:r>
              <a:t>LaTeXの表は、内容より“転記作業”に時間がかかる</a:t>
            </a:r>
          </a:p>
        </p:txBody>
      </p:sp>
      <p:sp>
        <p:nvSpPr>
          <p:cNvPr id="2" name="accent-rule">
            <a:extLst xmlns:a="http://schemas.openxmlformats.org/drawingml/2006/main">
              <a:ext uri="{FF2B5EF4-FFF2-40B4-BE49-F238E27FC236}">
                <a16:creationId xmlns:a16="http://schemas.microsoft.com/office/drawing/2014/main" id="{E048C067-D551-45EB-BE92-7D1FA0191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91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roblem-lead">
            <a:extLst xmlns:a="http://schemas.openxmlformats.org/drawingml/2006/main">
              <a:ext uri="{FF2B5EF4-FFF2-40B4-BE49-F238E27FC236}">
                <a16:creationId xmlns:a16="http://schemas.microsoft.com/office/drawing/2014/main" id="{EF7D405C-4B65-4189-877B-4E2D8A45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10858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D6673"/>
                </a:solidFill>
                <a:latin typeface="Yu Gothic"/>
                <a:ea typeface="Yu Gothic"/>
                <a:cs typeface="Yu Gothic"/>
              </a:defRPr>
            </a:pPr>
            <a:r>
              <a:t>同じ表を二度つくることが、ミスと手戻りの原因になる。</a:t>
            </a:r>
          </a:p>
        </p:txBody>
      </p:sp>
      <p:sp>
        <p:nvSpPr>
          <p:cNvPr id="4" name="manual-field">
            <a:extLst xmlns:a="http://schemas.openxmlformats.org/drawingml/2006/main">
              <a:ext uri="{FF2B5EF4-FFF2-40B4-BE49-F238E27FC236}">
                <a16:creationId xmlns:a16="http://schemas.microsoft.com/office/drawing/2014/main" id="{06670DA4-B5C9-4118-9ED3-FF9B03005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0"/>
            <a:ext cx="51435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manual-label">
            <a:extLst xmlns:a="http://schemas.openxmlformats.org/drawingml/2006/main">
              <a:ext uri="{FF2B5EF4-FFF2-40B4-BE49-F238E27FC236}">
                <a16:creationId xmlns:a16="http://schemas.microsoft.com/office/drawing/2014/main" id="{DBFA4366-3C76-4CCD-A263-E27AE4CC4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09850"/>
            <a:ext cx="17145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11318"/>
                </a:solidFill>
                <a:latin typeface="Yu Gothic"/>
                <a:ea typeface="Yu Gothic"/>
                <a:cs typeface="Yu Gothic"/>
              </a:defRPr>
            </a:pPr>
            <a:r>
              <a:t>手入力</a:t>
            </a:r>
          </a:p>
        </p:txBody>
      </p:sp>
      <p:sp>
        <p:nvSpPr>
          <p:cNvPr id="6" name="manual-detail">
            <a:extLst xmlns:a="http://schemas.openxmlformats.org/drawingml/2006/main">
              <a:ext uri="{FF2B5EF4-FFF2-40B4-BE49-F238E27FC236}">
                <a16:creationId xmlns:a16="http://schemas.microsoft.com/office/drawing/2014/main" id="{BCBD8D9C-75A9-4284-9BE4-D5154DFD2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42862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11318"/>
                </a:solidFill>
                <a:latin typeface="Yu Gothic"/>
                <a:ea typeface="Yu Gothic"/>
                <a:cs typeface="Yu Gothic"/>
              </a:defRPr>
            </a:pPr>
            <a:r>
              <a:t>列数を数える
区切り・改行記号を転記する
結合や罫線を調整する</a:t>
            </a:r>
          </a:p>
        </p:txBody>
      </p:sp>
      <p:sp>
        <p:nvSpPr>
          <p:cNvPr id="7" name="risk-field">
            <a:extLst xmlns:a="http://schemas.openxmlformats.org/drawingml/2006/main">
              <a:ext uri="{FF2B5EF4-FFF2-40B4-BE49-F238E27FC236}">
                <a16:creationId xmlns:a16="http://schemas.microsoft.com/office/drawing/2014/main" id="{2A3301E8-484D-43CA-B346-0F1F89CBB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286000"/>
            <a:ext cx="523875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isk-label">
            <a:extLst xmlns:a="http://schemas.openxmlformats.org/drawingml/2006/main">
              <a:ext uri="{FF2B5EF4-FFF2-40B4-BE49-F238E27FC236}">
                <a16:creationId xmlns:a16="http://schemas.microsoft.com/office/drawing/2014/main" id="{64B1DD0A-A07A-4345-9794-2F3C2DF14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09850"/>
            <a:ext cx="2286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11318"/>
                </a:solidFill>
                <a:latin typeface="Yu Gothic"/>
                <a:ea typeface="Yu Gothic"/>
                <a:cs typeface="Yu Gothic"/>
              </a:defRPr>
            </a:pPr>
            <a:r>
              <a:t>起きること</a:t>
            </a:r>
          </a:p>
        </p:txBody>
      </p:sp>
      <p:sp>
        <p:nvSpPr>
          <p:cNvPr id="9" name="risk-detail">
            <a:extLst xmlns:a="http://schemas.openxmlformats.org/drawingml/2006/main">
              <a:ext uri="{FF2B5EF4-FFF2-40B4-BE49-F238E27FC236}">
                <a16:creationId xmlns:a16="http://schemas.microsoft.com/office/drawing/2014/main" id="{21DF199A-C0B8-4EF8-A980-7323D206B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76600"/>
            <a:ext cx="43815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11318"/>
                </a:solidFill>
                <a:latin typeface="Yu Gothic"/>
                <a:ea typeface="Yu Gothic"/>
                <a:cs typeface="Yu Gothic"/>
              </a:defRPr>
            </a:pPr>
            <a:r>
              <a:t>記号の抜け・列ずれ
元データ修正後の再転記
書式調整への集中力消費</a:t>
            </a:r>
          </a:p>
        </p:txBody>
      </p:sp>
      <p:sp>
        <p:nvSpPr>
          <p:cNvPr id="10" name="problem-conclusion">
            <a:extLst xmlns:a="http://schemas.openxmlformats.org/drawingml/2006/main">
              <a:ext uri="{FF2B5EF4-FFF2-40B4-BE49-F238E27FC236}">
                <a16:creationId xmlns:a16="http://schemas.microsoft.com/office/drawing/2014/main" id="{18FD9375-DC4B-48F1-BF08-C7232A71E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43550"/>
            <a:ext cx="104775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t>Excel2TeXは、この“二度づくり”を1つの流れにまとめる。</a:t>
            </a:r>
          </a:p>
        </p:txBody>
      </p:sp>
      <p:sp>
        <p:nvSpPr>
          <p:cNvPr id="11" name="page-2">
            <a:extLst xmlns:a="http://schemas.openxmlformats.org/drawingml/2006/main">
              <a:ext uri="{FF2B5EF4-FFF2-40B4-BE49-F238E27FC236}">
                <a16:creationId xmlns:a16="http://schemas.microsoft.com/office/drawing/2014/main" id="{798B1BC6-6C48-4ABD-9018-D430CB734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00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D6673"/>
                </a:solidFill>
                <a:latin typeface="Yu Gothic"/>
                <a:ea typeface="Yu Gothic"/>
                <a:cs typeface="Yu Gothic"/>
              </a:defRPr>
            </a:pPr>
            <a: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315608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F48C690-F647-4689-BC54-70772E7D7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10490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318"/>
                </a:solidFill>
                <a:latin typeface="Yu Gothic"/>
                <a:ea typeface="Yu Gothic"/>
                <a:cs typeface="Yu Gothic"/>
              </a:defRPr>
            </a:pPr>
            <a:r>
              <a:t>読込・編集・TeX出力を、1画面でつなぐ</a:t>
            </a:r>
          </a:p>
        </p:txBody>
      </p:sp>
      <p:sp>
        <p:nvSpPr>
          <p:cNvPr id="2" name="accent-rule">
            <a:extLst xmlns:a="http://schemas.openxmlformats.org/drawingml/2006/main">
              <a:ext uri="{FF2B5EF4-FFF2-40B4-BE49-F238E27FC236}">
                <a16:creationId xmlns:a16="http://schemas.microsoft.com/office/drawing/2014/main" id="{15DCEDAD-4C21-437E-9928-A353BEB78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91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creenshot-backing">
            <a:extLst xmlns:a="http://schemas.openxmlformats.org/drawingml/2006/main">
              <a:ext uri="{FF2B5EF4-FFF2-40B4-BE49-F238E27FC236}">
                <a16:creationId xmlns:a16="http://schemas.microsoft.com/office/drawing/2014/main" id="{C4E71356-7B38-4D55-8221-6159B0382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11049000" cy="470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61C"/>
          </a:solidFill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2477AAFE-9058-47A4-85B5-76E7B9C1C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00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D6673"/>
                </a:solidFill>
                <a:latin typeface="Yu Gothic"/>
                <a:ea typeface="Yu Gothic"/>
                <a:cs typeface="Yu Gothic"/>
              </a:defRPr>
            </a:pPr>
            <a:r>
              <a:t>03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177b6a14f444fa"/>
          <a:stretch xmlns:a="http://schemas.openxmlformats.org/drawingml/2006/main"/>
        </p:blipFill>
        <p:spPr>
          <a:xfrm xmlns:a="http://schemas.openxmlformats.org/drawingml/2006/main">
            <a:off x="1908268" y="1409700"/>
            <a:ext cx="8146863" cy="45910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6081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A7BFEF9-60F7-4604-A94B-2AB15ECA4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10490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318"/>
                </a:solidFill>
                <a:latin typeface="Yu Gothic"/>
                <a:ea typeface="Yu Gothic"/>
                <a:cs typeface="Yu Gothic"/>
              </a:defRPr>
            </a:pPr>
            <a:r>
              <a:t>3つの工程を、確認できる1本の流れにする</a:t>
            </a:r>
          </a:p>
        </p:txBody>
      </p:sp>
      <p:sp>
        <p:nvSpPr>
          <p:cNvPr id="2" name="accent-rule">
            <a:extLst xmlns:a="http://schemas.openxmlformats.org/drawingml/2006/main">
              <a:ext uri="{FF2B5EF4-FFF2-40B4-BE49-F238E27FC236}">
                <a16:creationId xmlns:a16="http://schemas.microsoft.com/office/drawing/2014/main" id="{DE6DD804-F7A8-4CAF-9731-946E9FA0A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91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17" name="flow-line"/>
          <p:cNvCxnSpPr/>
          <p:nvPr/>
        </p:nvCxnSpPr>
        <p:spPr>
          <a:xfrm xmlns:a="http://schemas.openxmlformats.org/drawingml/2006/main">
            <a:off x="1143000" y="3067050"/>
            <a:ext cx="87630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solid"/>
          </a:ln>
        </p:spPr>
      </p:cxnSp>
      <p:sp>
        <p:nvSpPr>
          <p:cNvPr id="4" name="flow-1">
            <a:extLst xmlns:a="http://schemas.openxmlformats.org/drawingml/2006/main">
              <a:ext uri="{FF2B5EF4-FFF2-40B4-BE49-F238E27FC236}">
                <a16:creationId xmlns:a16="http://schemas.microsoft.com/office/drawing/2014/main" id="{D5EFAA85-878C-4AE7-ABC6-462CD57C3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241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low-2">
            <a:extLst xmlns:a="http://schemas.openxmlformats.org/drawingml/2006/main">
              <a:ext uri="{FF2B5EF4-FFF2-40B4-BE49-F238E27FC236}">
                <a16:creationId xmlns:a16="http://schemas.microsoft.com/office/drawing/2014/main" id="{784D24C8-24DF-4B06-8E10-156348484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9241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low-3">
            <a:extLst xmlns:a="http://schemas.openxmlformats.org/drawingml/2006/main">
              <a:ext uri="{FF2B5EF4-FFF2-40B4-BE49-F238E27FC236}">
                <a16:creationId xmlns:a16="http://schemas.microsoft.com/office/drawing/2014/main" id="{EE259C04-CDA2-4A46-AB9A-85436D3E6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9241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tep-1-label">
            <a:extLst xmlns:a="http://schemas.openxmlformats.org/drawingml/2006/main">
              <a:ext uri="{FF2B5EF4-FFF2-40B4-BE49-F238E27FC236}">
                <a16:creationId xmlns:a16="http://schemas.microsoft.com/office/drawing/2014/main" id="{24EBB9AA-0A13-431F-A064-525343EF8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24100"/>
            <a:ext cx="2381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11318"/>
                </a:solidFill>
                <a:latin typeface="Yu Gothic"/>
                <a:ea typeface="Yu Gothic"/>
                <a:cs typeface="Yu Gothic"/>
              </a:defRPr>
            </a:pPr>
            <a:r>
              <a:t>01  読み込む</a:t>
            </a:r>
          </a:p>
        </p:txBody>
      </p:sp>
      <p:sp>
        <p:nvSpPr>
          <p:cNvPr id="8" name="step-1-body">
            <a:extLst xmlns:a="http://schemas.openxmlformats.org/drawingml/2006/main">
              <a:ext uri="{FF2B5EF4-FFF2-40B4-BE49-F238E27FC236}">
                <a16:creationId xmlns:a16="http://schemas.microsoft.com/office/drawing/2014/main" id="{36323CBE-0D0C-47C2-9641-9B609520C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00450"/>
            <a:ext cx="28575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11318"/>
                </a:solidFill>
                <a:latin typeface="Yu Gothic"/>
                <a:ea typeface="Yu Gothic"/>
                <a:cs typeface="Yu Gothic"/>
              </a:defRPr>
            </a:pPr>
            <a:r>
              <a:t>CSV / XLSX
空行・空列を整理</a:t>
            </a:r>
          </a:p>
        </p:txBody>
      </p:sp>
      <p:sp>
        <p:nvSpPr>
          <p:cNvPr id="9" name="step-2-label">
            <a:extLst xmlns:a="http://schemas.openxmlformats.org/drawingml/2006/main">
              <a:ext uri="{FF2B5EF4-FFF2-40B4-BE49-F238E27FC236}">
                <a16:creationId xmlns:a16="http://schemas.microsoft.com/office/drawing/2014/main" id="{7A03B208-9948-41BE-800E-F8D7362D5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24100"/>
            <a:ext cx="3143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11318"/>
                </a:solidFill>
                <a:latin typeface="Yu Gothic"/>
                <a:ea typeface="Yu Gothic"/>
                <a:cs typeface="Yu Gothic"/>
              </a:defRPr>
            </a:pPr>
            <a:r>
              <a:t>02  整える・編集する</a:t>
            </a:r>
          </a:p>
        </p:txBody>
      </p:sp>
      <p:sp>
        <p:nvSpPr>
          <p:cNvPr id="10" name="step-2-body">
            <a:extLst xmlns:a="http://schemas.openxmlformats.org/drawingml/2006/main">
              <a:ext uri="{FF2B5EF4-FFF2-40B4-BE49-F238E27FC236}">
                <a16:creationId xmlns:a16="http://schemas.microsoft.com/office/drawing/2014/main" id="{94F4CB5D-3E33-4A1A-9D14-40909A0F5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00450"/>
            <a:ext cx="32385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11318"/>
                </a:solidFill>
                <a:latin typeface="Yu Gothic"/>
                <a:ea typeface="Yu Gothic"/>
                <a:cs typeface="Yu Gothic"/>
              </a:defRPr>
            </a:pPr>
            <a:r>
              <a:t>転置 / 重複・空欄削除
結合・分割 / 行列編集
Undo / Redo</a:t>
            </a:r>
          </a:p>
        </p:txBody>
      </p:sp>
      <p:sp>
        <p:nvSpPr>
          <p:cNvPr id="11" name="step-3-label">
            <a:extLst xmlns:a="http://schemas.openxmlformats.org/drawingml/2006/main">
              <a:ext uri="{FF2B5EF4-FFF2-40B4-BE49-F238E27FC236}">
                <a16:creationId xmlns:a16="http://schemas.microsoft.com/office/drawing/2014/main" id="{39DA3820-FAE4-4931-AE7E-B5239AE5E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24100"/>
            <a:ext cx="2667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11318"/>
                </a:solidFill>
                <a:latin typeface="Yu Gothic"/>
                <a:ea typeface="Yu Gothic"/>
                <a:cs typeface="Yu Gothic"/>
              </a:defRPr>
            </a:pPr>
            <a:r>
              <a:t>03  出力する</a:t>
            </a:r>
          </a:p>
        </p:txBody>
      </p:sp>
      <p:sp>
        <p:nvSpPr>
          <p:cNvPr id="12" name="step-3-body">
            <a:extLst xmlns:a="http://schemas.openxmlformats.org/drawingml/2006/main">
              <a:ext uri="{FF2B5EF4-FFF2-40B4-BE49-F238E27FC236}">
                <a16:creationId xmlns:a16="http://schemas.microsoft.com/office/drawing/2014/main" id="{E99EF3A5-0955-4778-AB23-92758206D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00450"/>
            <a:ext cx="28575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11318"/>
                </a:solidFill>
                <a:latin typeface="Yu Gothic"/>
                <a:ea typeface="Yu Gothic"/>
                <a:cs typeface="Yu Gothic"/>
              </a:defRPr>
            </a:pPr>
            <a:r>
              <a:t>tabular / tabularx
longtable / booktabs
コピー / .tex保存</a:t>
            </a:r>
          </a:p>
        </p:txBody>
      </p:sp>
      <p:sp>
        <p:nvSpPr>
          <p:cNvPr id="13" name="value-callout">
            <a:extLst xmlns:a="http://schemas.openxmlformats.org/drawingml/2006/main">
              <a:ext uri="{FF2B5EF4-FFF2-40B4-BE49-F238E27FC236}">
                <a16:creationId xmlns:a16="http://schemas.microsoft.com/office/drawing/2014/main" id="{F6351BC7-E0AF-4B68-8E1A-004CBB58F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00700"/>
            <a:ext cx="10001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t>編集するたびにTeXを再生成し、結果をその場で確認</a:t>
            </a:r>
          </a:p>
        </p:txBody>
      </p:sp>
      <p:sp>
        <p:nvSpPr>
          <p:cNvPr id="14" name="page-4">
            <a:extLst xmlns:a="http://schemas.openxmlformats.org/drawingml/2006/main">
              <a:ext uri="{FF2B5EF4-FFF2-40B4-BE49-F238E27FC236}">
                <a16:creationId xmlns:a16="http://schemas.microsoft.com/office/drawing/2014/main" id="{B4CCE649-A14C-4C2D-862F-C5E27909D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00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D6673"/>
                </a:solidFill>
                <a:latin typeface="Yu Gothic"/>
                <a:ea typeface="Yu Gothic"/>
                <a:cs typeface="Yu Gothic"/>
              </a:defRPr>
            </a:pPr>
            <a: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659316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2186063-544A-4488-B731-A40856827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10490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318"/>
                </a:solidFill>
                <a:latin typeface="Yu Gothic"/>
                <a:ea typeface="Yu Gothic"/>
                <a:cs typeface="Yu Gothic"/>
              </a:defRPr>
            </a:pPr>
            <a:r>
              <a:t>“操作の結果が見える”ことを、設計とテストで支える</a:t>
            </a:r>
          </a:p>
        </p:txBody>
      </p:sp>
      <p:sp>
        <p:nvSpPr>
          <p:cNvPr id="2" name="accent-rule">
            <a:extLst xmlns:a="http://schemas.openxmlformats.org/drawingml/2006/main">
              <a:ext uri="{FF2B5EF4-FFF2-40B4-BE49-F238E27FC236}">
                <a16:creationId xmlns:a16="http://schemas.microsoft.com/office/drawing/2014/main" id="{D8841E1F-CA1F-4E13-BC21-971519985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91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golden-rule">
            <a:extLst xmlns:a="http://schemas.openxmlformats.org/drawingml/2006/main">
              <a:ext uri="{FF2B5EF4-FFF2-40B4-BE49-F238E27FC236}">
                <a16:creationId xmlns:a16="http://schemas.microsoft.com/office/drawing/2014/main" id="{8EC90B0C-E3DF-4475-AA39-3E9D5D7B7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108585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11318"/>
                </a:solidFill>
                <a:latin typeface="Yu Gothic"/>
                <a:ea typeface="Yu Gothic"/>
                <a:cs typeface="Yu Gothic"/>
              </a:defRPr>
            </a:pPr>
            <a:r>
              <a:t>授業で扱った『対話設計における8つの黄金律』の
「フィードバックの提供」を実装</a:t>
            </a:r>
          </a:p>
        </p:txBody>
      </p:sp>
      <p:sp>
        <p:nvSpPr>
          <p:cNvPr id="4" name="feedback-example">
            <a:extLst xmlns:a="http://schemas.openxmlformats.org/drawingml/2006/main">
              <a:ext uri="{FF2B5EF4-FFF2-40B4-BE49-F238E27FC236}">
                <a16:creationId xmlns:a16="http://schemas.microsoft.com/office/drawing/2014/main" id="{4B2CDE11-5681-43E1-A545-8DC8BAC4D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38400"/>
            <a:ext cx="10858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D6673"/>
                </a:solidFill>
                <a:latin typeface="Yu Gothic"/>
                <a:ea typeface="Yu Gothic"/>
                <a:cs typeface="Yu Gothic"/>
              </a:defRPr>
            </a:pPr>
            <a:r>
              <a:t>読込中・生成完了・コピー・保存・エラーを、画面下部の状態表示で返す</a:t>
            </a:r>
          </a:p>
        </p:txBody>
      </p:sp>
      <p:sp>
        <p:nvSpPr>
          <p:cNvPr id="5" name="metric-1">
            <a:extLst xmlns:a="http://schemas.openxmlformats.org/drawingml/2006/main">
              <a:ext uri="{FF2B5EF4-FFF2-40B4-BE49-F238E27FC236}">
                <a16:creationId xmlns:a16="http://schemas.microsoft.com/office/drawing/2014/main" id="{847EDEED-BC8D-48B5-B140-BA77D2808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52800"/>
            <a:ext cx="33337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metric-2">
            <a:extLst xmlns:a="http://schemas.openxmlformats.org/drawingml/2006/main">
              <a:ext uri="{FF2B5EF4-FFF2-40B4-BE49-F238E27FC236}">
                <a16:creationId xmlns:a16="http://schemas.microsoft.com/office/drawing/2014/main" id="{0A9F13A9-B892-41BD-B65B-154DAD517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352800"/>
            <a:ext cx="33337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metric-3">
            <a:extLst xmlns:a="http://schemas.openxmlformats.org/drawingml/2006/main">
              <a:ext uri="{FF2B5EF4-FFF2-40B4-BE49-F238E27FC236}">
                <a16:creationId xmlns:a16="http://schemas.microsoft.com/office/drawing/2014/main" id="{72985FE0-AD7D-4C45-AEB0-2FBD44A40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352800"/>
            <a:ext cx="35242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etric-1-value">
            <a:extLst xmlns:a="http://schemas.openxmlformats.org/drawingml/2006/main">
              <a:ext uri="{FF2B5EF4-FFF2-40B4-BE49-F238E27FC236}">
                <a16:creationId xmlns:a16="http://schemas.microsoft.com/office/drawing/2014/main" id="{9892919D-D2DD-4129-972B-633439D5C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76650"/>
            <a:ext cx="2667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11318"/>
                </a:solidFill>
                <a:latin typeface="Yu Gothic"/>
                <a:ea typeface="Yu Gothic"/>
                <a:cs typeface="Yu Gothic"/>
              </a:defRPr>
            </a:pPr>
            <a:r>
              <a:t>2層</a:t>
            </a:r>
          </a:p>
        </p:txBody>
      </p:sp>
      <p:sp>
        <p:nvSpPr>
          <p:cNvPr id="9" name="metric-1-body">
            <a:extLst xmlns:a="http://schemas.openxmlformats.org/drawingml/2006/main">
              <a:ext uri="{FF2B5EF4-FFF2-40B4-BE49-F238E27FC236}">
                <a16:creationId xmlns:a16="http://schemas.microsoft.com/office/drawing/2014/main" id="{79F050DD-54D1-4495-ADCB-854D2774C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29150"/>
            <a:ext cx="26670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11318"/>
                </a:solidFill>
                <a:latin typeface="Yu Gothic"/>
                <a:ea typeface="Yu Gothic"/>
                <a:cs typeface="Yu Gothic"/>
              </a:defRPr>
            </a:pPr>
            <a:r>
              <a:t>UIと変換処理を分離
変更と検証が独立</a:t>
            </a:r>
          </a:p>
        </p:txBody>
      </p:sp>
      <p:sp>
        <p:nvSpPr>
          <p:cNvPr id="10" name="metric-2-value">
            <a:extLst xmlns:a="http://schemas.openxmlformats.org/drawingml/2006/main">
              <a:ext uri="{FF2B5EF4-FFF2-40B4-BE49-F238E27FC236}">
                <a16:creationId xmlns:a16="http://schemas.microsoft.com/office/drawing/2014/main" id="{43EDA864-68A9-435D-A936-3CF73943A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676650"/>
            <a:ext cx="2667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11318"/>
                </a:solidFill>
                <a:latin typeface="Yu Gothic"/>
                <a:ea typeface="Yu Gothic"/>
                <a:cs typeface="Yu Gothic"/>
              </a:defRPr>
            </a:pPr>
            <a:r>
              <a:t>270</a:t>
            </a:r>
          </a:p>
        </p:txBody>
      </p:sp>
      <p:sp>
        <p:nvSpPr>
          <p:cNvPr id="11" name="metric-2-body">
            <a:extLst xmlns:a="http://schemas.openxmlformats.org/drawingml/2006/main">
              <a:ext uri="{FF2B5EF4-FFF2-40B4-BE49-F238E27FC236}">
                <a16:creationId xmlns:a16="http://schemas.microsoft.com/office/drawing/2014/main" id="{25622BE9-4DB8-4D1C-BEB8-76C50C1CB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495800"/>
            <a:ext cx="26670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11318"/>
                </a:solidFill>
                <a:latin typeface="Yu Gothic"/>
                <a:ea typeface="Yu Gothic"/>
                <a:cs typeface="Yu Gothic"/>
              </a:defRPr>
            </a:pPr>
            <a:r>
              <a:t>tests
主要機能を自動検証</a:t>
            </a:r>
          </a:p>
        </p:txBody>
      </p:sp>
      <p:sp>
        <p:nvSpPr>
          <p:cNvPr id="12" name="metric-3-value">
            <a:extLst xmlns:a="http://schemas.openxmlformats.org/drawingml/2006/main">
              <a:ext uri="{FF2B5EF4-FFF2-40B4-BE49-F238E27FC236}">
                <a16:creationId xmlns:a16="http://schemas.microsoft.com/office/drawing/2014/main" id="{77099BC9-6E07-4032-BA93-C6435D174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676650"/>
            <a:ext cx="28575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t>3 OS</a:t>
            </a:r>
          </a:p>
        </p:txBody>
      </p:sp>
      <p:sp>
        <p:nvSpPr>
          <p:cNvPr id="13" name="metric-3-body">
            <a:extLst xmlns:a="http://schemas.openxmlformats.org/drawingml/2006/main">
              <a:ext uri="{FF2B5EF4-FFF2-40B4-BE49-F238E27FC236}">
                <a16:creationId xmlns:a16="http://schemas.microsoft.com/office/drawing/2014/main" id="{BCC38711-BBE6-429D-94C2-CA7958E51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629150"/>
            <a:ext cx="28575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11318"/>
                </a:solidFill>
                <a:latin typeface="Yu Gothic"/>
                <a:ea typeface="Yu Gothic"/>
                <a:cs typeface="Yu Gothic"/>
              </a:defRPr>
            </a:pPr>
            <a:r>
              <a:t>Windows / macOS / Linux
3 OS向けビルド構成</a:t>
            </a:r>
          </a:p>
        </p:txBody>
      </p:sp>
      <p:sp>
        <p:nvSpPr>
          <p:cNvPr id="14" name="page-5">
            <a:extLst xmlns:a="http://schemas.openxmlformats.org/drawingml/2006/main">
              <a:ext uri="{FF2B5EF4-FFF2-40B4-BE49-F238E27FC236}">
                <a16:creationId xmlns:a16="http://schemas.microsoft.com/office/drawing/2014/main" id="{867A069D-285F-4BEA-98AD-75378559D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00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D6673"/>
                </a:solidFill>
                <a:latin typeface="Yu Gothic"/>
                <a:ea typeface="Yu Gothic"/>
                <a:cs typeface="Yu Gothic"/>
              </a:defRPr>
            </a:pPr>
            <a: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816832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losing-eyebrow">
            <a:extLst xmlns:a="http://schemas.openxmlformats.org/drawingml/2006/main">
              <a:ext uri="{FF2B5EF4-FFF2-40B4-BE49-F238E27FC236}">
                <a16:creationId xmlns:a16="http://schemas.microsoft.com/office/drawing/2014/main" id="{BF96B7F8-FDB7-493D-8E1D-A8697F4CC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714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t>結論</a:t>
            </a:r>
          </a:p>
        </p:txBody>
      </p:sp>
      <p:sp>
        <p:nvSpPr>
          <p:cNvPr id="2" name="closing-message">
            <a:extLst xmlns:a="http://schemas.openxmlformats.org/drawingml/2006/main">
              <a:ext uri="{FF2B5EF4-FFF2-40B4-BE49-F238E27FC236}">
                <a16:creationId xmlns:a16="http://schemas.microsoft.com/office/drawing/2014/main" id="{3A9ECDA9-4A1C-4D36-9937-15FB6293A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9620250" cy="2190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111318"/>
                </a:solidFill>
                <a:latin typeface="Yu Gothic"/>
                <a:ea typeface="Yu Gothic"/>
                <a:cs typeface="Yu Gothic"/>
              </a:defRPr>
            </a:pPr>
            <a:r>
              <a:t>表作成を、
転記作業から設計作業へ。</a:t>
            </a:r>
          </a:p>
        </p:txBody>
      </p:sp>
      <p:sp>
        <p:nvSpPr>
          <p:cNvPr id="3" name="closing-rule">
            <a:extLst xmlns:a="http://schemas.openxmlformats.org/drawingml/2006/main">
              <a:ext uri="{FF2B5EF4-FFF2-40B4-BE49-F238E27FC236}">
                <a16:creationId xmlns:a16="http://schemas.microsoft.com/office/drawing/2014/main" id="{F284A41C-1F1C-490B-8FF4-D52C52D5E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86250"/>
            <a:ext cx="952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uture-work">
            <a:extLst xmlns:a="http://schemas.openxmlformats.org/drawingml/2006/main">
              <a:ext uri="{FF2B5EF4-FFF2-40B4-BE49-F238E27FC236}">
                <a16:creationId xmlns:a16="http://schemas.microsoft.com/office/drawing/2014/main" id="{6C134A34-0F05-4DB5-AC48-22B622584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0"/>
            <a:ext cx="100012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5D6673"/>
                </a:solidFill>
                <a:latin typeface="Yu Gothic"/>
                <a:ea typeface="Yu Gothic"/>
                <a:cs typeface="Yu Gothic"/>
              </a:defRPr>
            </a:pPr>
            <a:r>
              <a:t>今後：TeXプレビュー／大規模表の操作性／設定の保存</a:t>
            </a:r>
          </a:p>
        </p:txBody>
      </p:sp>
      <p:sp>
        <p:nvSpPr>
          <p:cNvPr id="5" name="closing-product">
            <a:extLst xmlns:a="http://schemas.openxmlformats.org/drawingml/2006/main">
              <a:ext uri="{FF2B5EF4-FFF2-40B4-BE49-F238E27FC236}">
                <a16:creationId xmlns:a16="http://schemas.microsoft.com/office/drawing/2014/main" id="{358ACB29-834A-457F-8195-6A6D3E2CA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91200"/>
            <a:ext cx="3429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t>Excel2TeX</a:t>
            </a:r>
          </a:p>
        </p:txBody>
      </p:sp>
    </p:spTree>
    <p:extLst>
      <p:ext uri="{BB962C8B-B14F-4D97-AF65-F5344CB8AC3E}">
        <p14:creationId xmlns:p14="http://schemas.microsoft.com/office/powerpoint/2010/main" val="18069435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2026-07-17T15:13:41.9400000Z</dcterms:created>
  <dcterms:modified xsi:type="dcterms:W3CDTF">2026-07-17T15:13:41.9400000Z</dcterms:modified>
</coreProperties>
</file>